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0FD3C0A-80C7-43C3-6ACE-AA077E4B4908}">
          <p14:sldIdLst>
            <p14:sldId id="256"/>
            <p14:sldId id="257"/>
          </p14:sldIdLst>
        </p14:section>
        <p14:section name="Data" id="{DB9A7E17-1BB2-6C8F-DB2A-56609D9D4FE4}">
          <p14:sldIdLst>
            <p14:sldId id="258"/>
            <p14:sldId id="259"/>
            <p14:sldId id="260"/>
            <p14:sldId id="261"/>
            <p14:sldId id="262"/>
          </p14:sldIdLst>
        </p14:section>
        <p14:section name="Analysis Questions" id="{48DD06ED-7DD5-9C9B-4C60-89A99958CDDE}">
          <p14:sldIdLst>
            <p14:sldId id="263"/>
            <p14:sldId id="264"/>
            <p14:sldId id="265"/>
            <p14:sldId id="266"/>
            <p14:sldId id="267"/>
          </p14:sldIdLst>
        </p14:section>
        <p14:section name="Hypothesis Testing" id="{4DC88FF6-265E-F78B-CC69-64F7FCAC511E}">
          <p14:sldIdLst>
            <p14:sldId id="268"/>
            <p14:sldId id="269"/>
            <p14:sldId id="270"/>
            <p14:sldId id="271"/>
            <p14:sldId id="272"/>
          </p14:sldIdLst>
        </p14:section>
        <p14:section name="ML Model" id="{4B0AD152-FF7A-1BB2-719A-B531634C8A48}">
          <p14:sldIdLst>
            <p14:sldId id="273"/>
            <p14:sldId id="274"/>
            <p14:sldId id="275"/>
            <p14:sldId id="276"/>
            <p14:sldId id="277"/>
          </p14:sldIdLst>
        </p14:section>
        <p14:section name="Conclusion" id="{79EBAF6B-F307-08D3-0123-7ABA34166650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54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6309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Cryptocurrency Market Behaviour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</a:rPr>
              <a:t>Statistical Analysis, Hypothesis Testing &amp; Regression-Based Volume Prediction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23CSE351 – Foundations of Data Science · Case Study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A65A"/>
                </a:solidFill>
              </a:rPr>
              <a:t>[Student name]  - BATTU HASINI  (CB.SC.U4CSE24068)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2A65A"/>
                </a:solidFill>
              </a:rPr>
              <a:t>                                  GOPIREDDY SIRI (CB.SC.U4CSE24120)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2A65A"/>
                </a:solidFill>
              </a:rPr>
              <a:t>                                   VARNA P  (CB.SC.U4CSE24156)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2A65A"/>
                </a:solidFill>
              </a:rPr>
              <a:t>                                   SABBELLA VAISHNAVI (CB.SC.U4CSE24363)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0" y="1463040"/>
            <a:ext cx="4572000" cy="35661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Chart from notebook: c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30164"/>
            <a:ext cx="4297680" cy="263191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6280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Bitcoin price and drawdown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21208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Crypto-assets trade 24×7 and their prices, volumes and market caps swing far more than traditional assets. Investors, exchanges and risk teams need evidence-based answers to: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832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concentrated is the market?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assets are really volatile?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assets move together?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Is activity different at weekends?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much should an asset trade, given its size and moves?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18872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89320" y="13487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26187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Pre-process: verify columns, detect anomalies, build a daily panel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05740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2174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13055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Explore: summary statistics and visualisations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292608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89320" y="30861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99923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Answer 15 analysis questions with suitable methods and plots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379476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89320" y="39547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86791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hypotheses, including A/B tests, with p-values and effect sizes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466344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89320" y="48234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73659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and evaluate a regression model for 24h trading volume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553212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89320" y="56921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60527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Summarise findings, limitations and future enhancements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109,130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records (market snapshots)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346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attributes (9 after cleaning)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71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520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distinct crypto-assets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78892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83464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2,573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520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snapshots, 26 Jan – 8 Aug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434340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4572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One row</a:t>
            </a:r>
            <a:r>
              <a:rPr lang="en-US" sz="1400" dirty="0">
                <a:solidFill>
                  <a:schemeClr val="tx1"/>
                </a:solidFill>
              </a:rPr>
              <a:t>: one snapshot of one asset at one moment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Source</a:t>
            </a:r>
            <a:r>
              <a:rPr lang="en-US" sz="1400" dirty="0">
                <a:solidFill>
                  <a:schemeClr val="tx1"/>
                </a:solidFill>
              </a:rPr>
              <a:t>: cleaned_crypto.csv, top assets by market cap (add original URL)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Quality</a:t>
            </a:r>
            <a:r>
              <a:rPr lang="en-US" sz="1400" dirty="0">
                <a:solidFill>
                  <a:schemeClr val="tx1"/>
                </a:solidFill>
              </a:rPr>
              <a:t>: no missing values or duplicates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88720"/>
          <a:ext cx="6675120" cy="5029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timestamp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datetime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Time the snapshot was collected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name / symbol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categorical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Asset name and ticker (e.g. Bitcoin, btc)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price_usd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Price in USD, rounded to 2 decimals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vol_24h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Trading volume in USD, previous 24 hours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total_vol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Asset’s % share of combined 24h volume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chg_24h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% price change over 24 hours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chg_7d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% price change over 7 days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market_cap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Market capitalisation in USD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name_encoded, symbol_encoded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int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Label codes 0–70 (redundant, dropped)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Cleaning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30936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943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Quality checks</a:t>
            </a:r>
            <a:r>
              <a:rPr lang="en-US" sz="1500" dirty="0">
                <a:solidFill>
                  <a:schemeClr val="tx1"/>
                </a:solidFill>
              </a:rPr>
              <a:t>: 0 missing values, 0 duplicate rows, 0 duplicate (timestamp, asset) pairs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Type conversion</a:t>
            </a:r>
            <a:r>
              <a:rPr lang="en-US" sz="1500" dirty="0">
                <a:solidFill>
                  <a:schemeClr val="tx1"/>
                </a:solidFill>
              </a:rPr>
              <a:t>: timestamp parsed to datetime; sorted by time and asset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total_vol verified</a:t>
            </a:r>
            <a:r>
              <a:rPr lang="en-US" sz="1500" dirty="0">
                <a:solidFill>
                  <a:schemeClr val="tx1"/>
                </a:solidFill>
              </a:rPr>
              <a:t>: it is each asset’s % share of the snapshot’s 24h volume (sums to ≈100, r = 1.000)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Data reduction</a:t>
            </a:r>
            <a:r>
              <a:rPr lang="en-US" sz="1500" dirty="0">
                <a:solidFill>
                  <a:schemeClr val="tx1"/>
                </a:solidFill>
              </a:rPr>
              <a:t>: dropped redundant encoded columns (11 → 9 columns)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Coverage regimes</a:t>
            </a:r>
            <a:r>
              <a:rPr lang="en-US" sz="1500" dirty="0">
                <a:solidFill>
                  <a:schemeClr val="tx1"/>
                </a:solidFill>
              </a:rPr>
              <a:t>: 50 assets per snapshot until 20 May (2,085 snapshots), then 10 (488)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Decision</a:t>
            </a:r>
            <a:r>
              <a:rPr lang="en-US" sz="1500" dirty="0">
                <a:solidFill>
                  <a:schemeClr val="tx1"/>
                </a:solidFill>
              </a:rPr>
              <a:t>: market-wide analysis uses the 50-asset period only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754880" cy="52120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Chart from notebook: c18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42879"/>
            <a:ext cx="4480560" cy="26749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45720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Collection regime change on 20 May 2026 (50 → 10 assets)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Feb–Mar: 859 and 733 snapshots; Apr–Aug: 106–174 per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Anomalies, Feature Engineering &amp; Daily Panel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Chart from notebook: c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18" y="1188720"/>
            <a:ext cx="10317285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69080"/>
            <a:ext cx="365760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Anomaly audit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2628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Prices of Shiba Inu, Pepe, HTX DAO round to $0: use chg_%, not price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BUIDL reports zero volume; RaveDAO (+6,154% in 7d) kept as genuine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IQR flags 12.6–19.6% of rows: heavy tails, no rows removed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4069080"/>
            <a:ext cx="365760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484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452628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asset_type: 17 Stable-value, 54 Volatile (price CV &lt; 1%)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turnover_pct = volume ÷ market cap; log10 size and volume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24h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4069080"/>
            <a:ext cx="365760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Daily panel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52628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Rolling 24h rows overlap, so keep one end-of-day snapshot per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6,150 asset-days; 5,400 in the 50-asset panel (108 days)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Bitcoin check: r = 0.994 with day-over-day change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EDA: Summary Statistics &amp; Distributions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94944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Chart from notebook: c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134"/>
            <a:ext cx="6675120" cy="43892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188720"/>
            <a:ext cx="4114800" cy="5212080"/>
          </a:xfrm>
          <a:prstGeom prst="roundRect">
            <a:avLst>
              <a:gd name="adj" fmla="val 177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the statistics say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783080"/>
            <a:ext cx="3749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market cap is extremely right-skewed; log10 makes it usable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Volume peaks near $100 m (10⁸) with a thin-trading tail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Stable tokens: 24h change SD 0.07%; volatile tokens 5.65%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Volatile excess kurtosis 350: crashes and spikes are common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Skewness 5.7–68.5, so medians and rank tests are used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EDA: Correlations &amp; Central Limit Theorem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Spearman correlation, volatile assets</a:t>
            </a:r>
            <a:endParaRPr lang="en-US" sz="1600" dirty="0"/>
          </a:p>
        </p:txBody>
      </p:sp>
      <p:pic>
        <p:nvPicPr>
          <p:cNvPr id="5" name="Image 0" descr="Chart from notebook: c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90" y="1691640"/>
            <a:ext cx="376534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846320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 volume rises with size (ρ = 0.49); turnover falls with size (ρ = −0.15)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Bigger moves, more trading (ρ = 0.24 with </a:t>
            </a:r>
            <a:r>
              <a:rPr lang="en-US" sz="1400" dirty="0">
                <a:solidFill>
                  <a:schemeClr val="tx1"/>
                </a:solidFill>
              </a:rPr>
              <a:t>24h change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72200" y="1188720"/>
            <a:ext cx="553212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355080" y="1298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CLT simulation of mean 24h return</a:t>
            </a:r>
            <a:endParaRPr lang="en-US" sz="1600" dirty="0"/>
          </a:p>
        </p:txBody>
      </p:sp>
      <p:pic>
        <p:nvPicPr>
          <p:cNvPr id="9" name="Image 1" descr="Chart from notebook: c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898" y="1691640"/>
            <a:ext cx="4362724" cy="3017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55080" y="4846320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Empirical SE ≈ σ/√n for n ≥ 30 (0.2517 vs 0.2525 at n = 500)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Heavy tails: skewness 1.87 at n = 30 falls to 0.53 at n = 500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Q1–Q3 · Who holds the value, who trades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 · Concentration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concentrated is total market capitalisation among the tracked assets?</a:t>
            </a:r>
            <a:endParaRPr lang="en-US" sz="1200" dirty="0"/>
          </a:p>
        </p:txBody>
      </p:sp>
      <p:pic>
        <p:nvPicPr>
          <p:cNvPr id="6" name="Image 0" descr="Chart from notebook: c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09582"/>
            <a:ext cx="3383280" cy="13931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Bitcoin averages 59.5% of tracked market cap; top 10 hold 92.9%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HHI ≈ 3,753, far above the 2,500 “highly concentrated” 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484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Q2 · Bitcoin dominance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did Bitcoin’s share of market cap evolve over time?</a:t>
            </a:r>
            <a:endParaRPr lang="en-US" sz="1200" dirty="0"/>
          </a:p>
        </p:txBody>
      </p:sp>
      <p:pic>
        <p:nvPicPr>
          <p:cNvPr id="11" name="Image 1" descr="Chart from notebook: c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709582"/>
            <a:ext cx="3383280" cy="13931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Dominance stayed in a 57.9–61.4% band, ending higher (58.3% → 60.8%)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ρ = 0.60 with BTC price (p ≈ 9×10⁻¹²): rallies were Bitcoin-led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2296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Q3 · Volume vs market cap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Is trading volume concentrated in the assets that dominate market cap?</a:t>
            </a:r>
            <a:endParaRPr lang="en-US" sz="1200" dirty="0"/>
          </a:p>
        </p:txBody>
      </p:sp>
      <p:pic>
        <p:nvPicPr>
          <p:cNvPr id="16" name="Image 2" descr="Chart from notebook: c54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499" y="2240280"/>
            <a:ext cx="3238042" cy="23317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Tether: 43.9% of volume but only 7.6% of market cap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Bitcoin: 59.5% of cap, just 26.7% of volume: held, not traded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Q4–Q6 · Liquidity, return shape and volatility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Q4 · Liquidity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liquid are assets relative to their size (turnover = volume ÷ market cap)?</a:t>
            </a:r>
            <a:endParaRPr lang="en-US" sz="1200" dirty="0"/>
          </a:p>
        </p:txBody>
      </p:sp>
      <p:pic>
        <p:nvPicPr>
          <p:cNvPr id="6" name="Image 0" descr="Chart from notebook: c57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19" y="2240280"/>
            <a:ext cx="3242162" cy="2331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Tether trades 37.5% of its value daily; USD1 28.4%, Pepe 21.1%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Yield tokens like Circle USYC barely trade (0.004%)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484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Q5 · Return distribution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What does the distribution of daily returns look like; is it normal?</a:t>
            </a:r>
            <a:endParaRPr lang="en-US" sz="1200" dirty="0"/>
          </a:p>
        </p:txBody>
      </p:sp>
      <p:pic>
        <p:nvPicPr>
          <p:cNvPr id="11" name="Image 1" descr="Chart from notebook: c60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335" y="2240280"/>
            <a:ext cx="3336850" cy="23317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Excess kurtosis 350 (Bitcoin alone: 7.07): very fat tails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±3σ days occur 3.4× more often than a normal curve predicts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2296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Q6 · Volatility ranking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Which assets are the most and least volatile?</a:t>
            </a:r>
            <a:endParaRPr lang="en-US" sz="1200" dirty="0"/>
          </a:p>
        </p:txBody>
      </p:sp>
      <p:pic>
        <p:nvPicPr>
          <p:cNvPr id="16" name="Image 2" descr="Chart from notebook: c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673" y="2240280"/>
            <a:ext cx="3117693" cy="23317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Most volatile: MemeCore 8.2% daily SD, Zcash 7.3%, Bittensor 6.1%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Least: TRON 1.2%; Bitcoin 2.7% (≈51% annualised)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Q7–Q9 · Stable vs volatile, size and drawdown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Q7 · Stable vs volatile (A/B)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different is the volatility of stable-value and volatile tokens?</a:t>
            </a:r>
            <a:endParaRPr lang="en-US" sz="1200" dirty="0"/>
          </a:p>
        </p:txBody>
      </p:sp>
      <p:pic>
        <p:nvPicPr>
          <p:cNvPr id="6" name="Image 0" descr="Chart from notebook: c66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02" y="2240280"/>
            <a:ext cx="3114997" cy="2331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Median </a:t>
            </a:r>
            <a:r>
              <a:rPr lang="en-US" sz="1400" dirty="0">
                <a:solidFill>
                  <a:schemeClr val="tx1"/>
                </a:solidFill>
              </a:rPr>
              <a:t>24h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Groups never overlap: riskiest stable (0.28%) &lt; calmest volatile (0.83%)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484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Q8 · Size vs risk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Are larger assets less volatile than smaller ones?</a:t>
            </a:r>
            <a:endParaRPr lang="en-US" sz="1200" dirty="0"/>
          </a:p>
        </p:txBody>
      </p:sp>
      <p:pic>
        <p:nvPicPr>
          <p:cNvPr id="11" name="Image 1" descr="Chart from notebook: c69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335" y="2240280"/>
            <a:ext cx="3336850" cy="23317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Spearman ρ = −0.14, p = 0.37: no significant link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SD by size quartile: 3.7%, 4.3%, 3.6%, 3.6%: size is not safety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2296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Q9 · Bitcoin drawdown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did Bitcoin’s price evolve and what was its worst drawdown?</a:t>
            </a:r>
            <a:endParaRPr lang="en-US" sz="1200" dirty="0"/>
          </a:p>
        </p:txBody>
      </p:sp>
      <p:pic>
        <p:nvPicPr>
          <p:cNvPr id="16" name="Image 2" descr="Chart from notebook: c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370174"/>
            <a:ext cx="3383280" cy="20719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$87,888 → $65,125 (−25.9%) from 26 Jan to 8 Aug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Max drawdown −35.3%: peak $90,115 (28 Jan) to trough $58,285 (30 Jun)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Q10–Q12 · Co-movement, beta and weekday patterns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Q10 · Co-movement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strongly do the daily returns of major assets move together?</a:t>
            </a:r>
            <a:endParaRPr lang="en-US" sz="1200" dirty="0"/>
          </a:p>
        </p:txBody>
      </p:sp>
      <p:pic>
        <p:nvPicPr>
          <p:cNvPr id="6" name="Image 0" descr="Chart from notebook: c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11" y="2240280"/>
            <a:ext cx="2637177" cy="2331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pairwise correlation 0.54; 51% of pairs exceed 0.5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BTC–ETH r = 0.94; gold tokens and TRON diversify best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484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Q11 · Beta to Bitcoin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How sensitive is each major asset to Bitcoin’s moves?</a:t>
            </a:r>
            <a:endParaRPr lang="en-US" sz="1200" dirty="0"/>
          </a:p>
        </p:txBody>
      </p:sp>
      <p:pic>
        <p:nvPicPr>
          <p:cNvPr id="11" name="Image 1" descr="Chart from notebook: c78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335" y="2240280"/>
            <a:ext cx="2940849" cy="23317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of 30 assets have β &gt; 1; median β = 0.87, median R² = 0.64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ETH = −0.09 + 1.21 × BTC (R² = 0.89); Zcash highest β (1.47)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2296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Q12 · Weekday effects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Does market activity or Bitcoin’s return differ by day of the week?</a:t>
            </a:r>
            <a:endParaRPr lang="en-US" sz="1200" dirty="0"/>
          </a:p>
        </p:txBody>
      </p:sp>
      <p:pic>
        <p:nvPicPr>
          <p:cNvPr id="16" name="Image 2" descr="Chart from notebook: c81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299158"/>
            <a:ext cx="3383280" cy="221396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Volume: Sat $133.6 bn, Sun $105.7 bn vs $176–200 bn on weekdays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BTC mean return: Mon +1.02% vs Thu −1.40% (tested in Test 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Q13–Q15 · Weekend volume, volume–volatility, breadth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Q13 · Weekend volume (A/B)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Is total market trading volume lower at weekends than on weekdays?</a:t>
            </a:r>
            <a:endParaRPr lang="en-US" sz="1200" dirty="0"/>
          </a:p>
        </p:txBody>
      </p:sp>
      <p:pic>
        <p:nvPicPr>
          <p:cNvPr id="6" name="Image 0" descr="Chart from notebook: c84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5" y="2240280"/>
            <a:ext cx="3336850" cy="2331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Weekday mean $189.2 bn (n = 79) vs weekend $120.1 bn (n = 29)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36.5% lower on average, 43.7% lower at the median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484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Q14 · Volume–volatility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Is trading activity related to the size of price moves?</a:t>
            </a:r>
            <a:endParaRPr lang="en-US" sz="1200" dirty="0"/>
          </a:p>
        </p:txBody>
      </p:sp>
      <p:pic>
        <p:nvPicPr>
          <p:cNvPr id="11" name="Image 1" descr="Chart from notebook: c87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378" y="2240280"/>
            <a:ext cx="3304765" cy="23317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Within-asset ρ = 0.39, p ≈ 4×10⁻¹⁵³ (4,216 asset-days)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Positive for 40 of 41 assets; biggest-move decile turnover z = +1.20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2296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Q15 · Market breadth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When Bitcoin moves, does the rest of the market move the same way?</a:t>
            </a:r>
            <a:endParaRPr lang="en-US" sz="1200" dirty="0"/>
          </a:p>
        </p:txBody>
      </p:sp>
      <p:pic>
        <p:nvPicPr>
          <p:cNvPr id="16" name="Image 2" descr="Chart from notebook: c90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095" y="2240280"/>
            <a:ext cx="3336850" cy="23317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4663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Breadth vs BTC return: ρ = 0.87 over 108 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BTC up → 73% of other assets up; direction matches on 86% of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Hypothesis Testing: Summary of 6 Tests (α = 0.05)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323121"/>
              </p:ext>
            </p:extLst>
          </p:nvPr>
        </p:nvGraphicFramePr>
        <p:xfrm>
          <a:off x="558926" y="1595120"/>
          <a:ext cx="10688194" cy="352044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Question and null hypothesis (H0)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used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Decision (effect size)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A/B · Weekend vs weekday volume. H0: equal means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Null hypothesis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+ permutation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 = −5.03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0.00001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Reject H0 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A/B · Volatile vs stable-value volatility. H0: same distribution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Null hypothesis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U = 918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3.2 × 10⁻¹⁰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Reject H0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BTC mean daily return = 0. H0: μ = 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One-sample t test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 = −0.61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0.542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Fail to reject (d = −0.05)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Day-of-week effect on BTC returns. H0: equal means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Null + Alternative hypothesis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H = 15.37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0.0175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Reject H0 (Mon vs Thu only)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Big-move days vs size tier. H0: independent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Chi-square independence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χ² = 22.55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1.3 × 10⁻⁵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Reject H0 (V = 0.073, very weak)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BTC |move| vs volume. H0: ρ = 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Null + Alternative hypothesis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ρ = 0.462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2.3 × 10⁻¹¹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Reject H0 (moderate)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555955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6 of 7 nulls rejected. Strongest practical results: the weekend volume drop, complete stable/volatile separation, fat-tailed returns and the volume–volatility link. Test 4 finds no reliable Bitcoin drift.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A/B Test 1: Weekend vs Weekday Trading Volume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97680" cy="521208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Hypotheses and method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= weekdays (control, n = 79); B = weekend days (treatment, n = 29)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H0: μ_weekend = μ_weekday vs H1: μ_weekend ≠ μ_weekday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A</a:t>
            </a:r>
            <a:r>
              <a:rPr lang="en-US" sz="1400" dirty="0">
                <a:solidFill>
                  <a:schemeClr val="tx1"/>
                </a:solidFill>
              </a:rPr>
              <a:t> 10,000-shuffle permutation test agree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3492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 H0: weekend volume is genuinely lower. Expect thinner order books.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676656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Chart from notebook: c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93720"/>
            <a:ext cx="6583680" cy="221666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4343400"/>
            <a:ext cx="216712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074920" y="44805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 = 0.001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5074920"/>
            <a:ext cx="1892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permutation p &lt; 0.05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37476" y="4343400"/>
            <a:ext cx="216712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74636" y="44805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−36.5%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374636" y="5074920"/>
            <a:ext cx="1892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About −$69.1 bn per day; bootstrap 95% CI [−94.8, −42.5] bn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537192" y="4343400"/>
            <a:ext cx="216712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674352" y="44805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 = −1.05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674352" y="5074920"/>
            <a:ext cx="1892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Cohen’s d: a large effect; weekends are the low-volume group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A/B Test 2: Stable-value vs Volatile Tokens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97680" cy="521208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Hypotheses and method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= stable-value tokens (17); B = volatile tokens (54); one value per asset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H0: same distribution of mean </a:t>
            </a:r>
            <a:r>
              <a:rPr lang="en-US" sz="1400" dirty="0">
                <a:solidFill>
                  <a:schemeClr val="tx1"/>
                </a:solidFill>
              </a:rPr>
              <a:t>24h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Small, non-normal groups, so Mann-Whitney U instead of a t-test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Levene test on daily changes confirms unequal variances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3492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 H0: volatile tokens are always more volatile; stable tokens act as near-cash.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676656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Chart from notebook: c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262" y="1261872"/>
            <a:ext cx="5171555" cy="2880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4343400"/>
            <a:ext cx="216712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074920" y="44805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 = 3.2×10⁻¹⁰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237476" y="4343400"/>
            <a:ext cx="216712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74636" y="44805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 = 1.00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537192" y="4343400"/>
            <a:ext cx="216712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674352" y="448056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5.65% vs 0.07%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674352" y="5074920"/>
            <a:ext cx="1892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Daily SD of 24h change; Levene W = 362.7, p ≈ 10⁻⁷⁸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Hypothesis Tests </a:t>
            </a:r>
            <a:r>
              <a:rPr lang="en-US" dirty="0"/>
              <a:t>3</a:t>
            </a:r>
            <a:r>
              <a:rPr lang="en-US" sz="3000" b="1" dirty="0">
                <a:solidFill>
                  <a:schemeClr val="tx2"/>
                </a:solidFill>
              </a:rPr>
              <a:t>–4: Normality, Drift and Weekday Effect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960120" y="114300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143000" y="1252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Test 3 · Bitcoin average daily return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H0: mean daily return μ = 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43000" y="2103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3444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p = 0.542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t = −0.61 · Wilcoxon p = 0.552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41148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 to reject H0; d = −0.045 (negligible)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95% CI [−0.51%, +0.27%] includes 0: no reliable drift despite −26%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1188720"/>
            <a:ext cx="3657600" cy="521208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0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Test 4 · Day-of-week effect (BTC)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H0: mean return is equal on all 7 weekdays</a:t>
            </a:r>
            <a:endParaRPr lang="en-US" sz="1200" dirty="0"/>
          </a:p>
        </p:txBody>
      </p:sp>
      <p:pic>
        <p:nvPicPr>
          <p:cNvPr id="18" name="Image 1" descr="Chart from notebook: c1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311400"/>
            <a:ext cx="3383280" cy="15036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0" y="41605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 = 0.0175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Mon vs Thu survives Bonferroni (p = 0.033): weak, fragile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Hypothesis Tests 5–6: Big Moves and Volume–Volatility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5498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5189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Test 5 · Big-move days vs asset size (χ²)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H0: P(|24h move| &gt; 5%) is independent of market-cap tier</a:t>
            </a:r>
            <a:endParaRPr lang="en-US" sz="1200" dirty="0"/>
          </a:p>
        </p:txBody>
      </p:sp>
      <p:pic>
        <p:nvPicPr>
          <p:cNvPr id="6" name="Image 0" descr="Chart from notebook: c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09" y="2057400"/>
            <a:ext cx="4432762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17720"/>
            <a:ext cx="51892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χ² = 22.55, df = 2, p = 1.3×10⁻⁵: reject H0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Cramér’s V = 0.073 (very weak): big-move days 13.7% small, 16.3% mid, 10.5% large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Non-monotonic, so size is only a weak risk signal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49340" y="1188720"/>
            <a:ext cx="555498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32220" y="1298448"/>
            <a:ext cx="5189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Test 6 · Bitcoin |move| vs volume (Spearman)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32220" y="1645920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H0: ρ = 0 vs H1: ρ &gt; 0 (one-sided)</a:t>
            </a:r>
            <a:endParaRPr lang="en-US" sz="1200" dirty="0"/>
          </a:p>
        </p:txBody>
      </p:sp>
      <p:pic>
        <p:nvPicPr>
          <p:cNvPr id="11" name="Image 1" descr="Chart from notebook: c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071" y="2057400"/>
            <a:ext cx="4121518" cy="2468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32220" y="4617720"/>
            <a:ext cx="51892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ρ = 0.462, p = 2.3×10⁻¹¹ (n = 183 days): reject H0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 +$6.2 bn of volume per extra 1% absolute move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Agrees with the cross-asset result in Q14 (ρ = 0.39)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ML Model: Multiple Linear Regression (OLS) + Random Forest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0F2A43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bg1"/>
                </a:solidFill>
              </a:rPr>
              <a:t>log10(Volume) = β0 + β1·log10(MarketCap) + β2·ln(1+|Δ24h|) + β3·ln(1+|Δ7d|) + β4·Stable + β5·Weekend + 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2697480" cy="388620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regression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is a continuous quantity: log10 of 24h volume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Estimates the volume an asset should trade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 residuals flag abnormal activity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514600"/>
            <a:ext cx="2697480" cy="388620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OLS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0896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Interpretable coefficients with CIs and p-values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Log-log terms read as elasticities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 benchmarks a non-linear fit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514600"/>
            <a:ext cx="2697480" cy="388620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log scale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10896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Volume spans about 6 orders of magnitude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 makes size vs volume near-linear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ln(1+</a:t>
            </a:r>
            <a:r>
              <a:rPr lang="en-US" sz="1400" dirty="0">
                <a:solidFill>
                  <a:schemeClr val="tx1"/>
                </a:solidFill>
              </a:rPr>
              <a:t>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2514600"/>
            <a:ext cx="2697480" cy="388620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 and split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310896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50-asset daily panel: 5,300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 26 Jan–25 Apr: 4,222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26 Apr–19 May: 1,078 rows, time-based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OLS Results: Coefficients and Interpretation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log10 market cap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1.204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[1.163, 1.244]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&lt; 0.0001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1% larger market cap → about 1.2% more volume (elasticity)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ln(1+|24h move|)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0.197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[0.152, 0.242]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&lt; 0.0001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Doubling (1+|24h move|) → volume × 1.37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ln(1+|7d move|)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0.140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[0.105, 0.175]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&lt; 0.0001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Doubling (1+|7d move|) → volume × 1.25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Stable-value (dummy)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0.177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[0.090, 0.263]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0.0001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Volume × 1.50, offsetting near-zero moves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Weekend (dummy)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−0.136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[−0.193, −0.078]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&lt; 0.0001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Volume × 0.73 (about 27% lower)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512064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Chart from notebook: c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4" y="3931920"/>
            <a:ext cx="4808913" cy="2377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3840480"/>
            <a:ext cx="594360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943600" y="39776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R² = 0.462, F = 724 (p ≈ 0); every coefficient significant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VIF max 1.94 (&lt; 5): no multicollinearity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Size dominates; elasticity above 1 means bigger assets trade more than proportionally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the stable dummy together with the move terms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 Evaluation: Metrics on the Held-out Period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153619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(log10)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(log10)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 error factor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 R²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Baseline (train mean)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−0.002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1.120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0.796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3.54×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Linear Regression (OLS)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0.487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0.802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0.570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2.71×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0.462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0.673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0.639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0.428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1.93×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0.849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80360"/>
            <a:ext cx="112471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Chart from notebook: c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51" y="2926080"/>
            <a:ext cx="9425618" cy="2697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OLS test R² 0.487 ≥ train 0.462: no overfitting; typical error about 2.7× the actual volume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 is more accurate (R² 0.673, error 1.9×) but overfits (train 0.849); size dominates importance (0.78)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Residual Diagnostics &amp; Generalisation to Unseen Assets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Chart from notebook: c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60" y="1234440"/>
            <a:ext cx="957580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69080"/>
            <a:ext cx="553212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Residual diagnostics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2628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Durbin-Watson 1.89: little autocorrelation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Residuals left-skewed (−1.82) and heteroscedastic, so p-values are approximate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Cause: trading stablecoins vs barely traded yield tokens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4069080"/>
            <a:ext cx="553212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5508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GroupKFold by asset (5 folds)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526280"/>
          <a:ext cx="5166360" cy="8778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R²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RMSE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0.220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0.850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−0.255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0.985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55080" y="55321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 unseen assets the Random Forest memorises asset identity; OLS transfers better.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Using the Model: Actual vs Expected Volume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76072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Chart from notebook: c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7549"/>
            <a:ext cx="5577840" cy="50144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530352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836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Interpretation of the results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82880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Far above expectation</a:t>
            </a:r>
            <a:r>
              <a:rPr lang="en-US" sz="1400" dirty="0">
                <a:solidFill>
                  <a:schemeClr val="tx1"/>
                </a:solidFill>
              </a:rPr>
              <a:t>: USD1 16.6×, Tether 12.3×, USDC 7.5×, Pepe 6.8×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Far below</a:t>
            </a:r>
            <a:r>
              <a:rPr lang="en-US" sz="1400" dirty="0">
                <a:solidFill>
                  <a:schemeClr val="tx1"/>
                </a:solidFill>
              </a:rPr>
              <a:t>: Circle USYC 0.003×, LEO Token 0.005×, Falcon USD 0.04×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Meaning</a:t>
            </a:r>
            <a:r>
              <a:rPr lang="en-US" sz="1400" dirty="0">
                <a:solidFill>
                  <a:schemeClr val="tx1"/>
                </a:solidFill>
              </a:rPr>
              <a:t>: trading stablecoins are the medium of exchange; yield and exchange tokens are held, not traded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Next step</a:t>
            </a:r>
            <a:r>
              <a:rPr lang="en-US" sz="1400" dirty="0">
                <a:solidFill>
                  <a:schemeClr val="tx1"/>
                </a:solidFill>
              </a:rPr>
              <a:t>: add a token-category feature (stablecoin, yield, exchange, meme)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Choice</a:t>
            </a:r>
            <a:r>
              <a:rPr lang="en-US" sz="1400" dirty="0">
                <a:solidFill>
                  <a:schemeClr val="tx1"/>
                </a:solidFill>
              </a:rPr>
              <a:t>: Random Forest for known assets; OLS for new assets and interpretation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Visualisation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Chart from notebook: c1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57836"/>
            <a:ext cx="8138160" cy="50738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188720"/>
            <a:ext cx="2834640" cy="521208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052560" y="1371600"/>
            <a:ext cx="25146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Concentration, price path and volatility ranking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A/B result: weekend volume −36.5% (p = 5.9×10⁻⁶)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Return correlations and model fit (OLS test R² 0.49)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Findings &amp; Interpretation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6187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Extreme concentration: BTC 59.5% of cap, top 10 = 92.9%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18872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26187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Stablecoins dominate trading: Tether 43.9% of volume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1343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Fat tails: &gt;3σ days occur 3.4× more than normal theory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24028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1343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 vs volatile tokens are fully separated (r = 1.00)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6499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Size is not safety: ρ = −0.14, p = 0.37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0936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36499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Herd behaviour: mean correlation 0.54; BTC direction matches 86% of days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41655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Weekend volume 36.5% lower (p &lt; 10⁻⁵, d = 1.05)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34340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0936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41655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Bigger moves, more trading (ρ = 0.39; Bitcoin 0.46)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39496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94360" y="5623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46811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BTC −25.9%, max drawdown −35.3%, no reliable drift (p = 0.54)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5394960"/>
            <a:ext cx="5532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309360" y="5623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46811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Regression: size elasticity ≈ 1.2; OLS test R² 0.49, RF 0.67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5212080"/>
          </a:xfrm>
          <a:prstGeom prst="roundRect">
            <a:avLst>
              <a:gd name="adj" fmla="val 1404"/>
            </a:avLst>
          </a:prstGeom>
          <a:solidFill>
            <a:srgbClr val="0F2A43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tracked crypto market behaves largely as one Bitcoin-driven system: value is concentrated in Bitcoin, most assets move with it, and diversifying across large tokens helps little.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Trading is concentrated in stablecoins, drops sharply at weekends and rises on volatile days. A simple log-log regression explains about half of daily volume variation and flags abnormal activity.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566928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6364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Short, uneven window: 6.5 months; 108 full-coverage days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Survivorship: only assets in the top 50 (later 10) appear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Prices rounded to 2 decimals hide sub-cent assets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Rolling 24h windows make daily figures approximate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Associations, not causes; results describe this period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Residuals skewed; no token-category feature; rough for new assets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Longer, evenly spaced history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hourly or daily snapshots with full-precision prices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Token-category metadata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Stablecoin type, layer-1, exchange, meme and real-world assets as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Time-series models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3832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GARCH for volatility clustering; ARIMA or LSTM with lagged features for true forecasts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1247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34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Better inference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434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Clustered standard errors or mixed-effects models for repeated assets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47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5623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486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Interactive dashboard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5486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Tableau or Power BI on top of the daily panel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References &amp; Dataset 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5212080"/>
          </a:xfrm>
          <a:prstGeom prst="roundRect">
            <a:avLst>
              <a:gd name="adj" fmla="val 140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Dataset</a:t>
            </a:r>
            <a:r>
              <a:rPr lang="en-US" sz="1600" dirty="0">
                <a:solidFill>
                  <a:schemeClr val="tx1"/>
                </a:solidFill>
              </a:rPr>
              <a:t>: cleaned_crypto.csv, time-stamped snapshots of the largest cryptocurrencies by market cap (add original source URL before submission)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pandas</a:t>
            </a:r>
            <a:r>
              <a:rPr lang="en-US" sz="1600" dirty="0">
                <a:solidFill>
                  <a:schemeClr val="tx1"/>
                </a:solidFill>
              </a:rPr>
              <a:t>: https://pandas.pydata.org/docs/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SciPy statistics</a:t>
            </a:r>
            <a:r>
              <a:rPr lang="en-US" sz="1600" dirty="0">
                <a:solidFill>
                  <a:schemeClr val="tx1"/>
                </a:solidFill>
              </a:rPr>
              <a:t>: https://docs.scipy.org/doc/scipy/reference/stats.html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statsmodels OLS</a:t>
            </a:r>
            <a:r>
              <a:rPr lang="en-US" sz="1600" dirty="0">
                <a:solidFill>
                  <a:schemeClr val="tx1"/>
                </a:solidFill>
              </a:rPr>
              <a:t>: https://www.statsmodels.org/stable/regression.html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scikit-learn</a:t>
            </a:r>
            <a:r>
              <a:rPr lang="en-US" sz="1600" dirty="0">
                <a:solidFill>
                  <a:schemeClr val="tx1"/>
                </a:solidFill>
              </a:rPr>
              <a:t>: https://scikit-learn.org/stable/user_guide.html (LinearRegression, RandomForestRegressor, GroupKFold)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Matplotlib and Seaborn</a:t>
            </a:r>
            <a:r>
              <a:rPr lang="en-US" sz="1600" dirty="0">
                <a:solidFill>
                  <a:schemeClr val="tx1"/>
                </a:solidFill>
              </a:rPr>
              <a:t>: https://matplotlib.org/stable/ and https://seaborn.pydata.org/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Case">
  <a:themeElements>
    <a:clrScheme name="CryptoCase">
      <a:dk1>
        <a:srgbClr val="1B2733"/>
      </a:dk1>
      <a:lt1>
        <a:srgbClr val="FFFFFF"/>
      </a:lt1>
      <a:dk2>
        <a:srgbClr val="0F2A43"/>
      </a:dk2>
      <a:lt2>
        <a:srgbClr val="EEF2F6"/>
      </a:lt2>
      <a:accent1>
        <a:srgbClr val="D95F02"/>
      </a:accent1>
      <a:accent2>
        <a:srgbClr val="2B5C8F"/>
      </a:accent2>
      <a:accent3>
        <a:srgbClr val="4A7BB0"/>
      </a:accent3>
      <a:accent4>
        <a:srgbClr val="2E7D5B"/>
      </a:accent4>
      <a:accent5>
        <a:srgbClr val="B3261E"/>
      </a:accent5>
      <a:accent6>
        <a:srgbClr val="6B7885"/>
      </a:accent6>
      <a:hlink>
        <a:srgbClr val="2B5C8F"/>
      </a:hlink>
      <a:folHlink>
        <a:srgbClr val="6B7885"/>
      </a:folHlink>
    </a:clrScheme>
    <a:fontScheme name="CryptoCa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3379</Words>
  <Application>Microsoft Office PowerPoint</Application>
  <PresentationFormat>Widescreen</PresentationFormat>
  <Paragraphs>477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CryptoCase</vt:lpstr>
      <vt:lpstr>Cryptocurrency Market Behaviour</vt:lpstr>
      <vt:lpstr>Problem Statement &amp; Objectives</vt:lpstr>
      <vt:lpstr>Dataset Description</vt:lpstr>
      <vt:lpstr>Data Cleaning &amp; Preprocessing</vt:lpstr>
      <vt:lpstr>Anomalies, Feature Engineering &amp; Daily Panel</vt:lpstr>
      <vt:lpstr>EDA: Summary Statistics &amp; Distributions</vt:lpstr>
      <vt:lpstr>EDA: Correlations &amp; Central Limit Theorem</vt:lpstr>
      <vt:lpstr>Q1–Q3 · Who holds the value, who trades it</vt:lpstr>
      <vt:lpstr>Q4–Q6 · Liquidity, return shape and volatility</vt:lpstr>
      <vt:lpstr>Q7–Q9 · Stable vs volatile, size and drawdown</vt:lpstr>
      <vt:lpstr>Q10–Q12 · Co-movement, beta and weekday patterns</vt:lpstr>
      <vt:lpstr>Q13–Q15 · Weekend volume, volume–volatility, breadth</vt:lpstr>
      <vt:lpstr>Hypothesis Testing: Summary of 6 Tests (α = 0.05)</vt:lpstr>
      <vt:lpstr>A/B Test 1: Weekend vs Weekday Trading Volume</vt:lpstr>
      <vt:lpstr>A/B Test 2: Stable-value vs Volatile Tokens</vt:lpstr>
      <vt:lpstr>Hypothesis Tests 3–4: Normality, Drift and Weekday Effect</vt:lpstr>
      <vt:lpstr>Hypothesis Tests 5–6: Big Moves and Volume–Volatility</vt:lpstr>
      <vt:lpstr>ML Model: Multiple Linear Regression (OLS) + Random Forest</vt:lpstr>
      <vt:lpstr>OLS Results: Coefficients and Interpretation</vt:lpstr>
      <vt:lpstr>Model Evaluation: Metrics on the Held-out Period</vt:lpstr>
      <vt:lpstr>Residual Diagnostics &amp; Generalisation to Unseen Assets</vt:lpstr>
      <vt:lpstr>Using the Model: Actual vs Expected Volume</vt:lpstr>
      <vt:lpstr>Python Visualisation Dashboard</vt:lpstr>
      <vt:lpstr>Key Findings &amp; Interpretation</vt:lpstr>
      <vt:lpstr>Conclusion &amp; Limitations</vt:lpstr>
      <vt:lpstr>Future Enhancements</vt:lpstr>
      <vt:lpstr>References &amp; Dataset Source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Market Behaviour – Case Study</dc:title>
  <dc:subject>PptxGenJS Presentation</dc:subject>
  <dc:creator>PptxGenJS</dc:creator>
  <cp:lastModifiedBy>siribhulakshmi@outlook.com</cp:lastModifiedBy>
  <cp:revision>5</cp:revision>
  <dcterms:created xsi:type="dcterms:W3CDTF">2026-10-21T18:35:50Z</dcterms:created>
  <dcterms:modified xsi:type="dcterms:W3CDTF">2026-10-23T07:59:20Z</dcterms:modified>
</cp:coreProperties>
</file>